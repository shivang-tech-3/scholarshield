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3891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6B6D4"/>
                </a:solidFill>
              </a:defRPr>
            </a:pPr>
            <a:r>
              <a:t>MIDNIGHT RISE IN • LEVEL 4 SUBMISSION</a:t>
            </a:r>
          </a:p>
          <a:p>
            <a:pPr>
              <a:spcAft>
                <a:spcPts val="1000"/>
              </a:spcAft>
              <a:defRPr sz="4200" b="1">
                <a:solidFill>
                  <a:srgbClr val="FFFFFF"/>
                </a:solidFill>
              </a:defRPr>
            </a:pPr>
            <a:r>
              <a:t>ScholarShield</a:t>
            </a:r>
          </a:p>
          <a:p>
            <a:pPr>
              <a:spcAft>
                <a:spcPts val="2000"/>
              </a:spcAft>
              <a:defRPr sz="1800">
                <a:solidFill>
                  <a:srgbClr val="D1D5DB"/>
                </a:solidFill>
              </a:defRPr>
            </a:pPr>
            <a:r>
              <a:t>Confidential Multi-Criteria Scholarship Eligibility &amp; Zero-Knowledge Credential Protocol</a:t>
            </a:r>
          </a:p>
          <a:p>
            <a:pPr>
              <a:defRPr sz="1300">
                <a:solidFill>
                  <a:srgbClr val="10B981"/>
                </a:solidFill>
              </a:defRPr>
            </a:pPr>
            <a:r>
              <a:t>Track: Identity, Compliance &amp; Verifiable Credentials • Built with Midnight Compact 0.19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PROBLEM LANDSCAPE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Why Scholarship Verification is Broken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366F1"/>
                </a:solidFill>
              </a:defRPr>
            </a:pPr>
            <a:r>
              <a:t>01.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Severe Financial Exposure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Students must submit unredacted family tax filings, bank balances, and income proof to wide committees, exposing vulnerable families to socioeconomic profiling.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10312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02.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Pervasive Application Fraud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Reviewers lack cryptographic validation. Altered PDF transcripts, forged GPAs, and duplicate submissions across universities siphon millions from deserving scholars.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10312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03.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Public Blockchain Leaks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Existing Web3 credential solutions on Ethereum or Solana make all data public, exposing student grades and award amounts to public block explorers.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OUR INNOVATION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ScholarShield: Dual Multi-Constraint Zero-Knowledge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6B6D4"/>
                </a:solidFill>
              </a:defRPr>
            </a:pPr>
            <a:r>
              <a:t>🔐 Multi-Constraint Need &amp; Merit Proofs</a:t>
            </a:r>
          </a:p>
          <a:p>
            <a:pPr>
              <a:spcAft>
                <a:spcPts val="1200"/>
              </a:spcAft>
              <a:defRPr sz="1200">
                <a:solidFill>
                  <a:srgbClr val="D1D5DB"/>
                </a:solidFill>
              </a:defRPr>
            </a:pPr>
            <a:r>
              <a:t>Proves that income is below threshold ($32k &lt;= $50k) AND GPA meets prerequisite (92.5% &gt;= 85%) in a single PLONK circuit without revealing raw numbers.</a:t>
            </a:r>
          </a:p>
          <a:p>
            <a:pPr>
              <a:spcAft>
                <a:spcPts val="200"/>
              </a:spcAft>
              <a:defRPr sz="1400" b="1">
                <a:solidFill>
                  <a:srgbClr val="06B6D4"/>
                </a:solidFill>
              </a:defRPr>
            </a:pPr>
            <a:r>
              <a:t>🏛️ Zero-Knowledge University KYC Whitelist</a:t>
            </a:r>
          </a:p>
          <a:p>
            <a:pPr>
              <a:spcAft>
                <a:spcPts val="1200"/>
              </a:spcAft>
              <a:defRPr sz="1200">
                <a:solidFill>
                  <a:srgbClr val="D1D5DB"/>
                </a:solidFill>
              </a:defRPr>
            </a:pPr>
            <a:r>
              <a:t>Verifies student enrollment via cryptographic Merkle tree membership without disclosing the student's legal identity or national ID.</a:t>
            </a:r>
          </a:p>
          <a:p>
            <a:pPr>
              <a:spcAft>
                <a:spcPts val="200"/>
              </a:spcAft>
              <a:defRPr sz="1400" b="1">
                <a:solidFill>
                  <a:srgbClr val="06B6D4"/>
                </a:solidFill>
              </a:defRPr>
            </a:pPr>
            <a:r>
              <a:t>🚫 Deterministic Anti-Double-Claim Nullifiers</a:t>
            </a:r>
          </a:p>
          <a:p>
            <a:pPr>
              <a:spcAft>
                <a:spcPts val="1200"/>
              </a:spcAft>
              <a:defRPr sz="1200">
                <a:solidFill>
                  <a:srgbClr val="D1D5DB"/>
                </a:solidFill>
              </a:defRPr>
            </a:pPr>
            <a:r>
              <a:t>Derives application nullifiers Hash(studentSecret, scholarshipId) ensuring each student claims a specific grant strictly once while staying unlinkable.</a:t>
            </a:r>
          </a:p>
          <a:p>
            <a:pPr>
              <a:spcAft>
                <a:spcPts val="200"/>
              </a:spcAft>
              <a:defRPr sz="1400" b="1">
                <a:solidFill>
                  <a:srgbClr val="06B6D4"/>
                </a:solidFill>
              </a:defRPr>
            </a:pPr>
            <a:r>
              <a:t>🛡️ Midnight Rational Privacy &amp; Auditor Viewing Keys</a:t>
            </a:r>
          </a:p>
          <a:p>
            <a:pPr>
              <a:spcAft>
                <a:spcPts val="1200"/>
              </a:spcAft>
              <a:defRPr sz="1200">
                <a:solidFill>
                  <a:srgbClr val="D1D5DB"/>
                </a:solidFill>
              </a:defRPr>
            </a:pPr>
            <a:r>
              <a:t>Permits selective viewing key generation for regulatory IRS / 501(c)(3) endowment compliance without publishing data to the public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UNDER THE HOOD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Why Midnight is the Ideal Substrate for ScholarShield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2011680"/>
          </a:xfrm>
          <a:prstGeom prst="roundRect">
            <a:avLst/>
          </a:prstGeom>
          <a:solidFill>
            <a:srgbClr val="111827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Dual Public/Private Ledger State</a:t>
            </a:r>
          </a:p>
          <a:p>
            <a:pPr>
              <a:defRPr sz="1150">
                <a:solidFill>
                  <a:srgbClr val="9CA3AF"/>
                </a:solidFill>
              </a:defRPr>
            </a:pPr>
            <a:r>
              <a:t>Enables public grant terms (ceilings, quota) while keeping student witnesses 100% private in client memory.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2011680"/>
          </a:xfrm>
          <a:prstGeom prst="roundRect">
            <a:avLst/>
          </a:prstGeom>
          <a:solidFill>
            <a:srgbClr val="111827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574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Compact Smart Contract Language</a:t>
            </a:r>
          </a:p>
          <a:p>
            <a:pPr>
              <a:defRPr sz="1150">
                <a:solidFill>
                  <a:srgbClr val="9CA3AF"/>
                </a:solidFill>
              </a:defRPr>
            </a:pPr>
            <a:r>
              <a:t>Expressive declarative circuit constraints compiled directly into prover and verifier keys.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011680"/>
          </a:xfrm>
          <a:prstGeom prst="roundRect">
            <a:avLst/>
          </a:prstGeom>
          <a:solidFill>
            <a:srgbClr val="111827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434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Native DApp Connector &amp; Lace</a:t>
            </a:r>
          </a:p>
          <a:p>
            <a:pPr>
              <a:defRPr sz="1150">
                <a:solidFill>
                  <a:srgbClr val="9CA3AF"/>
                </a:solidFill>
              </a:defRPr>
            </a:pPr>
            <a:r>
              <a:t>Seamless Web3 onboarding with client-side key management and shielded transaction dispatch.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114800"/>
            <a:ext cx="5120640" cy="2011680"/>
          </a:xfrm>
          <a:prstGeom prst="roundRect">
            <a:avLst/>
          </a:prstGeom>
          <a:solidFill>
            <a:srgbClr val="111827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3434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Rational Privacy Architecture</a:t>
            </a:r>
          </a:p>
          <a:p>
            <a:pPr>
              <a:defRPr sz="1150">
                <a:solidFill>
                  <a:srgbClr val="9CA3AF"/>
                </a:solidFill>
              </a:defRPr>
            </a:pPr>
            <a:r>
              <a:t>Provides both complete user confidentiality and selective regulatory auditability.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ARCHITECTURE &amp; QUALITY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Full Stack Implementation &amp; 100% Test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• Smart Contract Layer:</a:t>
            </a:r>
          </a:p>
          <a:p>
            <a:pPr>
              <a:spcAft>
                <a:spcPts val="1200"/>
              </a:spcAft>
              <a:defRPr sz="1200">
                <a:solidFill>
                  <a:srgbClr val="D1D5DB"/>
                </a:solidFill>
              </a:defRPr>
            </a:pPr>
            <a:r>
              <a:t>   Midnight Compact 0.19 (scholarshield.compact), compiled circuit descriptors, ZKIR, and verifier keys in managed/.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• Frontend Application:</a:t>
            </a:r>
          </a:p>
          <a:p>
            <a:pPr>
              <a:spcAft>
                <a:spcPts val="1200"/>
              </a:spcAft>
              <a:defRPr sz="1200">
                <a:solidFill>
                  <a:srgbClr val="D1D5DB"/>
                </a:solidFill>
              </a:defRPr>
            </a:pPr>
            <a:r>
              <a:t>   Next.js 15.1.7 (App Router), React 19, TypeScript, TailwindCSS with responsive glassmorphism.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• Wallet &amp; Prover:</a:t>
            </a:r>
          </a:p>
          <a:p>
            <a:pPr>
              <a:spcAft>
                <a:spcPts val="1200"/>
              </a:spcAft>
              <a:defRPr sz="1200">
                <a:solidFill>
                  <a:srgbClr val="D1D5DB"/>
                </a:solidFill>
              </a:defRPr>
            </a:pPr>
            <a:r>
              <a:t>   Official Midnight DApp Connector v0.19 with Lace Wallet integration and fallback Instant Demo Shielded Prover.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• Test Suite &amp; CI/CD:</a:t>
            </a:r>
          </a:p>
          <a:p>
            <a:pPr>
              <a:spcAft>
                <a:spcPts val="1200"/>
              </a:spcAft>
              <a:defRPr sz="1200">
                <a:solidFill>
                  <a:srgbClr val="D1D5DB"/>
                </a:solidFill>
              </a:defRPr>
            </a:pPr>
            <a:r>
              <a:t>   Vitest 5.0.1 with 9 passing unit tests across Compact circuits and verifier audit checks; GitHub Actions CI/CD on every commit.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DEMONSTRATION &amp; VISION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Live Demo Presets and Level 1–6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206240"/>
          </a:xfrm>
          <a:prstGeom prst="roundRect">
            <a:avLst/>
          </a:prstGeom>
          <a:solidFill>
            <a:srgbClr val="111827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1-Click Demo Scenarios</a:t>
            </a:r>
          </a:p>
          <a:p>
            <a:pPr>
              <a:spcAft>
                <a:spcPts val="800"/>
              </a:spcAft>
              <a:defRPr sz="1100">
                <a:solidFill>
                  <a:srgbClr val="D1D5DB"/>
                </a:solidFill>
              </a:defRPr>
            </a:pPr>
            <a:r>
              <a:t>✓ Eligible Student ($32k, 92.5%) -&gt; Generates valid ZK-SNARK proof -&gt; On-chain claim verified -&gt; Verifier sees RESULT: ELIGIBLE with zero leaks.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✗ High Income ($85k) -&gt; Circuit constraint violation triggered -&gt; Prover rejects proof generation before broadcast.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12080" cy="4206240"/>
          </a:xfrm>
          <a:prstGeom prst="roundRect">
            <a:avLst/>
          </a:prstGeom>
          <a:solidFill>
            <a:srgbClr val="111827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366F1"/>
                </a:solidFill>
              </a:defRPr>
            </a:pPr>
            <a:r>
              <a:t>Milestone Trajectory</a:t>
            </a:r>
          </a:p>
          <a:p>
            <a:pPr>
              <a:spcAft>
                <a:spcPts val="600"/>
              </a:spcAft>
              <a:defRPr sz="1100">
                <a:solidFill>
                  <a:srgbClr val="D1D5DB"/>
                </a:solidFill>
              </a:defRPr>
            </a:pPr>
            <a:r>
              <a:t>• Level 1-3: Compact Contract, Lace Wallet, CI/CD &amp; Tests (COMPLETED)</a:t>
            </a:r>
          </a:p>
          <a:p>
            <a:pPr>
              <a:spcAft>
                <a:spcPts val="600"/>
              </a:spcAft>
              <a:defRPr sz="1100">
                <a:solidFill>
                  <a:srgbClr val="D1D5DB"/>
                </a:solidFill>
              </a:defRPr>
            </a:pPr>
            <a:r>
              <a:t>• Level 4: Polished Demonstrable DApp &amp; Preprod Deployment (COMPLETED)</a:t>
            </a:r>
          </a:p>
          <a:p>
            <a:pPr>
              <a:spcAft>
                <a:spcPts val="600"/>
              </a:spcAft>
              <a:defRPr sz="1100">
                <a:solidFill>
                  <a:srgbClr val="D1D5DB"/>
                </a:solidFill>
              </a:defRPr>
            </a:pPr>
            <a:r>
              <a:t>• Level 5-6: Decentralized Identity (DID) &amp; Smart Escrow Payouts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